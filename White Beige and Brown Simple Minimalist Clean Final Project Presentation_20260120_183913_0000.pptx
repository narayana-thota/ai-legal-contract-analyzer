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" charset="1" panose="00000500000000000000"/>
      <p:regular r:id="rId19"/>
    </p:embeddedFont>
    <p:embeddedFont>
      <p:font typeface="Open Sauce Bold" charset="1" panose="00000800000000000000"/>
      <p:regular r:id="rId20"/>
    </p:embeddedFont>
    <p:embeddedFont>
      <p:font typeface="Open Sauce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39458"/>
            <a:ext cx="10747499" cy="386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spc="-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Multi-Agent Contract Analysis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66800"/>
            <a:ext cx="8554888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INFOSYS SPRINGBOARD INTERNSHIP PROGRAM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87277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61563" y="3453554"/>
            <a:ext cx="1483618" cy="1537428"/>
          </a:xfrm>
          <a:custGeom>
            <a:avLst/>
            <a:gdLst/>
            <a:ahLst/>
            <a:cxnLst/>
            <a:rect r="r" b="b" t="t" l="l"/>
            <a:pathLst>
              <a:path h="1537428" w="1483618">
                <a:moveTo>
                  <a:pt x="0" y="0"/>
                </a:moveTo>
                <a:lnTo>
                  <a:pt x="1483618" y="0"/>
                </a:lnTo>
                <a:lnTo>
                  <a:pt x="1483618" y="1537428"/>
                </a:lnTo>
                <a:lnTo>
                  <a:pt x="0" y="1537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46223" y="3125327"/>
            <a:ext cx="811369" cy="1759066"/>
          </a:xfrm>
          <a:custGeom>
            <a:avLst/>
            <a:gdLst/>
            <a:ahLst/>
            <a:cxnLst/>
            <a:rect r="r" b="b" t="t" l="l"/>
            <a:pathLst>
              <a:path h="1759066" w="811369">
                <a:moveTo>
                  <a:pt x="0" y="0"/>
                </a:moveTo>
                <a:lnTo>
                  <a:pt x="811369" y="0"/>
                </a:lnTo>
                <a:lnTo>
                  <a:pt x="811369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293968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52158"/>
            <a:ext cx="4310172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Manu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 contract review is slow, error-prone, and bottlenecked by human expertise in specific domains (e.g., legal vs. financial). Traditional tools (like standard OCR) can read text but lack the intelligence to understand complex risks or context.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1563" y="5397076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1563" y="6155266"/>
            <a:ext cx="4310172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 Intellig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 Multi-Agent System that uses a "Planning Module" to coordinate specialized AI agents (Legal, Finance, Compliance &amp; Operation). These agents work simultaneously  to parse, classify, and risk-assess documents using LangGraph and LangChain.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46223" y="5427318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Why It Matte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46223" y="6185508"/>
            <a:ext cx="4363903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This tool makes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organization easy. It turns slow, manual work into a fast, automated process, ensuring you don't miss critical risks due to tiredness or a lack of specific knowledge.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616" y="9220200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211" t="0" r="-5032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73722"/>
            <a:ext cx="20593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Main G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oal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31912"/>
            <a:ext cx="7342398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d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evelop an automated, intelligent system that drastically reduces the time and error rate of legal contract reviews by using a Multi-Agent AI architecture. The system aims to replicate a human review board by assigning specific sections of a document to specialized "expert" agents that work in parallel to identify risks.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9220200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648450"/>
            <a:ext cx="4473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Supporting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406640"/>
            <a:ext cx="7342398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utomate Document Parsing 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Classify contracts into relevant domains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Use AI agents for specialized analysis tasks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nable Parallel Risk Assessment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Provide structured and interpretable output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00430" y="9220200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367746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 Development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03306" y="3317737"/>
            <a:ext cx="367746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ogramming Language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03306" y="3896857"/>
            <a:ext cx="560682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ython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9+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544" y="3317737"/>
            <a:ext cx="407028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Packages &amp; Libra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ries Used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544" y="3896857"/>
            <a:ext cx="7636395" cy="483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LangGraph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(State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 multi-agent wor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kflows).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LLM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Framewor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k: Lan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Cha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 (Prompt engin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eerin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 and integrating various tools).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Database: Pin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econe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and chromadb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(Vector storage for semantic search/retrieval).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Streamlit: Building and deploying the interactive web frontend to interact with the application.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Bac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nd: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Python (API integration and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logic).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sing: Uns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truct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ured/PyPDF for text extraction.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33096"/>
            <a:ext cx="4964045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Technology  Stack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8856" y="2981566"/>
            <a:ext cx="1688409" cy="1733445"/>
          </a:xfrm>
          <a:custGeom>
            <a:avLst/>
            <a:gdLst/>
            <a:ahLst/>
            <a:cxnLst/>
            <a:rect r="r" b="b" t="t" l="l"/>
            <a:pathLst>
              <a:path h="1733445" w="1688409">
                <a:moveTo>
                  <a:pt x="0" y="0"/>
                </a:moveTo>
                <a:lnTo>
                  <a:pt x="1688410" y="0"/>
                </a:lnTo>
                <a:lnTo>
                  <a:pt x="1688410" y="1733445"/>
                </a:lnTo>
                <a:lnTo>
                  <a:pt x="0" y="1733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2" t="0" r="-54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41618" y="2876791"/>
            <a:ext cx="1675859" cy="2022153"/>
          </a:xfrm>
          <a:custGeom>
            <a:avLst/>
            <a:gdLst/>
            <a:ahLst/>
            <a:cxnLst/>
            <a:rect r="r" b="b" t="t" l="l"/>
            <a:pathLst>
              <a:path h="2022153" w="1675859">
                <a:moveTo>
                  <a:pt x="0" y="0"/>
                </a:moveTo>
                <a:lnTo>
                  <a:pt x="1675860" y="0"/>
                </a:lnTo>
                <a:lnTo>
                  <a:pt x="1675860" y="2022154"/>
                </a:lnTo>
                <a:lnTo>
                  <a:pt x="0" y="2022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918611"/>
            <a:ext cx="18288000" cy="2679378"/>
          </a:xfrm>
          <a:custGeom>
            <a:avLst/>
            <a:gdLst/>
            <a:ahLst/>
            <a:cxnLst/>
            <a:rect r="r" b="b" t="t" l="l"/>
            <a:pathLst>
              <a:path h="2679378" w="18288000">
                <a:moveTo>
                  <a:pt x="0" y="0"/>
                </a:moveTo>
                <a:lnTo>
                  <a:pt x="18288000" y="0"/>
                </a:lnTo>
                <a:lnTo>
                  <a:pt x="18288000" y="2679378"/>
                </a:lnTo>
                <a:lnTo>
                  <a:pt x="0" y="2679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0177" r="-355" b="-27647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Who We Designed For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9220200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 Audience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61495" y="2829166"/>
            <a:ext cx="20372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Target User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1495" y="3587356"/>
            <a:ext cx="5303873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Corporate Legal Teams 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Finance &amp; Procurement Departments 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Compliance Officers 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Operations Managers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591183" y="2829166"/>
            <a:ext cx="27926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Their Challenges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91183" y="3587356"/>
            <a:ext cx="7077961" cy="408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Teams ar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drowning in routine paperwork, creating massive bottlenecks that slow down deals.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Disconnected teams (Legal vs. Finance) often miss cross-domain risks that fall between the cracks.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Human attention fades after hours of reading dense text, leading to critical errors.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Outsourcing routine contract reviews to external firms is prohibitively expensive.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Different human reviewers interpret risks differently, leading to a lack of standardization.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4949" y="1843092"/>
            <a:ext cx="12918102" cy="7179623"/>
          </a:xfrm>
          <a:custGeom>
            <a:avLst/>
            <a:gdLst/>
            <a:ahLst/>
            <a:cxnLst/>
            <a:rect r="r" b="b" t="t" l="l"/>
            <a:pathLst>
              <a:path h="7179623" w="12918102">
                <a:moveTo>
                  <a:pt x="0" y="0"/>
                </a:moveTo>
                <a:lnTo>
                  <a:pt x="12918102" y="0"/>
                </a:lnTo>
                <a:lnTo>
                  <a:pt x="12918102" y="7179623"/>
                </a:lnTo>
                <a:lnTo>
                  <a:pt x="0" y="7179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97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9220200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 Development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4113" y="1989298"/>
            <a:ext cx="5932961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Specialized AI Agents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65698" y="9220200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 Development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9555" y="3101870"/>
            <a:ext cx="18766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Legal Ag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2272" y="3663315"/>
            <a:ext cx="5157061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It focus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 st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rictly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the bind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 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and legal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guage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 the co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ract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 Jurisdiction clauses, termination rights, and intellectual property ownership.</a:t>
            </a:r>
          </a:p>
        </p:txBody>
      </p:sp>
      <p:sp>
        <p:nvSpPr>
          <p:cNvPr name="AutoShape 7" id="7"/>
          <p:cNvSpPr/>
          <p:nvPr/>
        </p:nvSpPr>
        <p:spPr>
          <a:xfrm>
            <a:off x="854113" y="5515401"/>
            <a:ext cx="162306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1156539" y="3574737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855239" y="6498311"/>
            <a:ext cx="29678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mplia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ce Agent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55239" y="7125056"/>
            <a:ext cx="4701427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 ens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res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con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ct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 to 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xterna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law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nd inte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nal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ompany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olic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s. It saves the company from massive government fines and reputational damage by ensuring no illegal or non-compliant activities are agreed to in the text.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534837" y="5486898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>
            <a:off x="8454576" y="3546198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2765698" y="5530642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8778426" y="3159708"/>
            <a:ext cx="224769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ance A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78426" y="3663315"/>
            <a:ext cx="5274852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This agent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acts as your financial auditor. Payment schedules, late fees, penalty clauses, currency fluctuations, and tax obligations. It prevents financial loss.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89548" y="6485928"/>
            <a:ext cx="273732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Oper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ations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 Agent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89548" y="7112673"/>
            <a:ext cx="4169752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This agent is the proje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ct man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ag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r.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It 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oks at 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actical side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 how th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 w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ual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get done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 It ensures the contract is realistic.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989777"/>
            <a:ext cx="10234383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Document Parsing &amp; Ingestion Strategy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2289" y="4135036"/>
            <a:ext cx="3156109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Inge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stion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API accepts file uploads (PDF, DOCX, IMG).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9220200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97598" y="4135036"/>
            <a:ext cx="3156109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Extracti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Uses libraries (e.g., PyPDF, Unstructured) to strip text from binary formats.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65940" y="4135036"/>
            <a:ext cx="3156109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eaning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Removes noise like page numbers, headers, footers, and watermarks.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08748" y="7812497"/>
            <a:ext cx="287050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i="true">
                <a:solidFill>
                  <a:srgbClr val="8C7753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26809" y="8416290"/>
            <a:ext cx="1023438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Cl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ean JSON objects containing text chunks and metadata (page numbers), ready for embedding.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1530" y="3295658"/>
            <a:ext cx="213762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06838" y="3295658"/>
            <a:ext cx="213762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75180" y="3295658"/>
            <a:ext cx="213762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34629" y="4135036"/>
            <a:ext cx="3221082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Chu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nking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Splits continuous text into smaller, overlapping segments (e.g., 500 tokens) to fit LLM context windows.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54352" y="3295658"/>
            <a:ext cx="218163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Planning Module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21347"/>
            <a:ext cx="14132002" cy="483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</a:t>
            </a: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ncept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: This module acts as the project manager. It doesn't read the whole contract itself; instead, it looks at the document and decides who needs to read what.</a:t>
            </a:r>
          </a:p>
          <a:p>
            <a:pPr algn="just">
              <a:lnSpc>
                <a:spcPts val="3840"/>
              </a:lnSpc>
            </a:pPr>
          </a:p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it Works:</a:t>
            </a:r>
          </a:p>
          <a:p>
            <a:pPr algn="just" marL="518160" indent="-259080" lvl="1">
              <a:lnSpc>
                <a:spcPts val="3840"/>
              </a:lnSpc>
              <a:buAutoNum type="arabicPeriod" startAt="1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Input: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The module receives the document type (e.g., "Service Agreement") and the user's high-level request.</a:t>
            </a:r>
          </a:p>
          <a:p>
            <a:pPr algn="just" marL="518160" indent="-259080" lvl="1">
              <a:lnSpc>
                <a:spcPts val="3840"/>
              </a:lnSpc>
              <a:buAutoNum type="arabicPeriod" startAt="1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Decomposition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: The LLM breaks the request into sub-tasks.</a:t>
            </a:r>
          </a:p>
          <a:p>
            <a:pPr algn="just" marL="1036320" indent="-345440" lvl="2">
              <a:lnSpc>
                <a:spcPts val="3840"/>
              </a:lnSpc>
              <a:buFont typeface="Arial"/>
              <a:buChar char="⚬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Example: "Check for financial penalties" $\rightarrow$ Assigned to Finance Agent.</a:t>
            </a:r>
          </a:p>
          <a:p>
            <a:pPr algn="just" marL="1036320" indent="-345440" lvl="2">
              <a:lnSpc>
                <a:spcPts val="3840"/>
              </a:lnSpc>
              <a:buFont typeface="Arial"/>
              <a:buChar char="⚬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Example: "Check for GDPR compliance" $\rightarrow$ Assigned to Compliance Agent.</a:t>
            </a:r>
          </a:p>
          <a:p>
            <a:pPr algn="just" marL="518160" indent="-259080" lvl="1">
              <a:lnSpc>
                <a:spcPts val="3840"/>
              </a:lnSpc>
              <a:buAutoNum type="arabicPeriod" startAt="1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Routing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: It generates a structured JSON Plan that tells LangGraph which agents to activate.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9220200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9163515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Parallel Processing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69895"/>
            <a:ext cx="14132002" cy="628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</a:t>
            </a: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ncept: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Instead of agents waiting in a line (Agent A $\rightarrow$ Agent B $\rightarrow$ Agent C), they all work at the exact same time.</a:t>
            </a:r>
          </a:p>
          <a:p>
            <a:pPr algn="just">
              <a:lnSpc>
                <a:spcPts val="3840"/>
              </a:lnSpc>
            </a:pPr>
          </a:p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Technical Shift:</a:t>
            </a:r>
          </a:p>
          <a:p>
            <a:pPr algn="just" marL="518160" indent="-259080" lvl="1">
              <a:lnSpc>
                <a:spcPts val="3840"/>
              </a:lnSpc>
              <a:buAutoNum type="arabicPeriod" startAt="1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Sequential (Traditional):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Legal Agent finishes, then passes data to Finance. If Legal takes 5 minutes, Finance waits 5 minutes. Total time = 10 mins.</a:t>
            </a:r>
          </a:p>
          <a:p>
            <a:pPr algn="just" marL="518160" indent="-259080" lvl="1">
              <a:lnSpc>
                <a:spcPts val="3840"/>
              </a:lnSpc>
              <a:buAutoNum type="arabicPeriod" startAt="1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Parallel (Our Approach):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The Planning Module triggers Legal and Finance simultaneously. Total time = 5 mins (whichever is longest).</a:t>
            </a:r>
          </a:p>
          <a:p>
            <a:pPr algn="just">
              <a:lnSpc>
                <a:spcPts val="3840"/>
              </a:lnSpc>
            </a:pPr>
          </a:p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Implementation with LangGraph:</a:t>
            </a:r>
          </a:p>
          <a:p>
            <a:pPr algn="just" marL="518160" indent="-259080" lvl="1">
              <a:lnSpc>
                <a:spcPts val="3840"/>
              </a:lnSpc>
              <a:buAutoNum type="arabicPeriod" startAt="1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 use a "Fan-Out" architecture in the graph. The state splits into multiple branches, and each agent processes its own branch independently.</a:t>
            </a:r>
          </a:p>
          <a:p>
            <a:pPr algn="just" marL="518160" indent="-259080" lvl="1">
              <a:lnSpc>
                <a:spcPts val="3840"/>
              </a:lnSpc>
              <a:buAutoNum type="arabicPeriod" startAt="1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the end, a "Join" node aggregates all the results into one final report.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9253859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367746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Reflections &amp; Growth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45090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93135"/>
            <a:ext cx="13816117" cy="337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Human-in-th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e-Loop Inte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rf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e: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Devel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 a UI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wher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legal exp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erts 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 validate or rejec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 AI fi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to continuous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ly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trai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mo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del.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ti-Lingual Capabil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itie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: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Extend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 the Planning Mo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 to handle and 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anslate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ross-b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 contrac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ts (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.g.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in Hindi, German, or Spanis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h).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CLM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Integration: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API connectors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li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directly with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corpor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ate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tools lik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Sales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or DocuSig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 f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 se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aml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ss workflow automation.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367746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Reflections &amp; Growth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45090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923223"/>
            <a:ext cx="14592229" cy="434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Proof of Conc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pt: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Succe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sfully v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lida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ted th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 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Mul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i-Agent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Syste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(vs.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gle LLM) significantl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 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mprov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accuracy by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signing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"speci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list" roles (Legal, Fi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ance,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Compliance).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nic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 Achievement: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Orches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rated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co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plex, par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llel wor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flow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using 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ngG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aph,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monstrating real-time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oord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nat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ion b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etween 4+ autonom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ou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agen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Value: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system dr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ically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reduces "Time-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-Insight"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for contract 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w, transforming a manual, multi-day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rocess into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automate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 w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orkflow 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hat 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akes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minutes.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iabili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y:</a:t>
            </a:r>
            <a:r>
              <a:rPr lang="en-US" b="true" sz="2400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rated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necone (Vect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DB) to el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mina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halluc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nations, ensur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ag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nts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nly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yz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xt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tu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ally p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rese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ocu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ment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88736" y="4401622"/>
            <a:ext cx="10910528" cy="1731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DAG-Tc773cU</dc:identifier>
  <dcterms:modified xsi:type="dcterms:W3CDTF">2011-08-01T06:04:30Z</dcterms:modified>
  <cp:revision>1</cp:revision>
  <dc:title>White Beige and Brown Simple Minimalist Clean Final Project Presentation</dc:title>
</cp:coreProperties>
</file>